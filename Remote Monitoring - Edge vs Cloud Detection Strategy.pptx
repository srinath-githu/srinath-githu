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193B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6193B"/>
                </a:solidFill>
                <a:latin typeface="Calibri"/>
              </a:rPr>
              <a:t>Monthly cost by sampling frequency ($)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AWS ($0.001/img)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61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Continuous (30 FPS)</c:v>
                  </c:pt>
                  <c:pt idx="1">
                    <c:v>High-Freq (5 FPS)</c:v>
                  </c:pt>
                  <c:pt idx="2">
                    <c:v>Low-Freq (1 FPS)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17280</c:v>
                </c:pt>
                <c:pt idx="1">
                  <c:v>2880</c:v>
                </c:pt>
                <c:pt idx="2">
                  <c:v>576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Google ($0.0015/img)</c:v>
                </c:pt>
              </c:strCache>
            </c:strRef>
          </c:tx>
          <c:spPr>
            <a:solidFill>
              <a:srgbClr val="3D5AFE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61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Continuous (30 FPS)</c:v>
                  </c:pt>
                  <c:pt idx="1">
                    <c:v>High-Freq (5 FPS)</c:v>
                  </c:pt>
                  <c:pt idx="2">
                    <c:v>Low-Freq (1 FPS)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25920</c:v>
                </c:pt>
                <c:pt idx="1">
                  <c:v>4320</c:v>
                </c:pt>
                <c:pt idx="2">
                  <c:v>864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900" u="none">
                  <a:solidFill>
                    <a:srgbClr val="161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A5F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6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A5F73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A5F73"/>
                    </a:solidFill>
                    <a:latin typeface="Arial"/>
                  </a:rPr>
                  <a:t>USD / month</a:t>
                </a:r>
              </a:p>
            </c:rich>
          </c:tx>
          <c:layout/>
          <c:overlay val="0"/>
        </c:title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5F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A5F7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1645920"/>
            <a:ext cx="4572000" cy="4572000"/>
          </a:xfrm>
          <a:prstGeom prst="ellipse">
            <a:avLst/>
          </a:prstGeom>
          <a:solidFill>
            <a:srgbClr val="24316F"/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24316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331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MONITORING &amp; REAL-TIME OBJECT DETECTION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69748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vs. Cloud: A 2026 Architecture &amp; Cost Strategy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31520" y="37947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analysis for a resilient, cost-optimized compliance-monitoring stack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6035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Architecture Report  •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Context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edge-aware video compliance matters now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20640" cy="1143000"/>
          </a:xfrm>
          <a:prstGeom prst="roundRect">
            <a:avLst>
              <a:gd name="adj" fmla="val 6400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28800"/>
            <a:ext cx="384048" cy="384048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98448" y="1746504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1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workforce risk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298448" y="2075688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work has made edge security and regulatory compliance a core architectural requirement, not a side concern.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26480" y="1600200"/>
            <a:ext cx="5120640" cy="1143000"/>
          </a:xfrm>
          <a:prstGeom prst="roundRect">
            <a:avLst>
              <a:gd name="adj" fmla="val 6400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55080" y="1828800"/>
            <a:ext cx="384048" cy="384048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1828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76288" y="1746504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1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detection need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876288" y="2075688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must flag disallowed hardware (phones, cameras, storage) and physical media in real time.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063240"/>
            <a:ext cx="5120640" cy="1143000"/>
          </a:xfrm>
          <a:prstGeom prst="roundRect">
            <a:avLst>
              <a:gd name="adj" fmla="val 6400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3291840"/>
            <a:ext cx="384048" cy="384048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2918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98448" y="3209544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1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challenge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298448" y="3538728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inference, minimal latency, and avoiding vendor lock-in define a non-trivial systems problem.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26480" y="3063240"/>
            <a:ext cx="5120640" cy="1143000"/>
          </a:xfrm>
          <a:prstGeom prst="roundRect">
            <a:avLst>
              <a:gd name="adj" fmla="val 6400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55080" y="3291840"/>
            <a:ext cx="384048" cy="384048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32918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76288" y="3209544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1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Shifting cloud landscape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876288" y="3538728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deprecations and rising per-request costs are forcing a re-evaluation of cloud-native vision APIs.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Architectural Comparison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edge (YOLO) vs. closed-source cloud APIs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2834640"/>
        </p:xfrm>
        <a:graphic>
          <a:graphicData uri="http://schemas.openxmlformats.org/drawingml/2006/table">
            <a:tbl>
              <a:tblPr/>
              <a:tblGrid>
                <a:gridCol w="2926080"/>
                <a:gridCol w="4069080"/>
                <a:gridCol w="40690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Open-Source Edge (YOLO)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Closed-Source Cloud APIs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 location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hardware (CPU / NPU / GPU)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Managed provider infrastructure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10 ms (local processing)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ms – 1,500 ms (network-dependent)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Bandwidth requirement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Negligible (metadata only)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(continuous 1080p/720p upload)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Config. complexity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(environment/NPU tuning)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(simplified API calls)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566928"/>
        </p:xfrm>
        <a:graphic>
          <a:graphicData uri="http://schemas.openxmlformats.org/drawingml/2006/table">
            <a:tbl>
              <a:tblPr/>
              <a:tblGrid>
                <a:gridCol w="2926080"/>
                <a:gridCol w="4069080"/>
                <a:gridCol w="406908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Open-Source Edge (YOLO)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Closed-Source Cloud APIs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470916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4F6FC"/>
          </a:solidFill>
          <a:ln/>
        </p:spPr>
      </p:sp>
      <p:sp>
        <p:nvSpPr>
          <p:cNvPr id="7" name="Text 3"/>
          <p:cNvSpPr/>
          <p:nvPr/>
        </p:nvSpPr>
        <p:spPr>
          <a:xfrm>
            <a:off x="868680" y="4864608"/>
            <a:ext cx="104241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shift: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YOLO26 introduces end-to-end NMS-free inference, simplifying the pipeline and running efficiently on the NPUs now standard in 2026 enterprise hardware — cutting CPU overhead and heat during continuous monitoring. This removes the per-frame friction of commercial APIs, enabling high-frequency analysis with no recurring transaction fees.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2026 Cloud Shift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Rekognition deprecation impact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24316F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28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30, 2026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Effective deprecation date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2697480"/>
            <a:ext cx="47548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new accounts, Amazon Rekognition terminates:
</a:t>
            </a:r>
            <a:endParaRPr lang="en-US" sz="13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Video feature</a:t>
            </a:r>
            <a:endParaRPr lang="en-US" sz="13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Image Analysis feature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accounts (active in the prior 12 months) retain access — but the roadmap for all new projects is fundamentally altered.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60020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828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“SO WHAT” FACTOR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37960" y="21488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Managed convenience disappears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537960" y="2697480"/>
            <a:ext cx="47548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now points developers to a Serverless Solution for Video Frame Analysis, built on the Rekognition Image API to process sampled frames rather than a managed stream. Developers must build their own edge-side logic to slice and manage frames locally — removing the core convenience of a managed service and mandating edge-aware design regardless of where inference ultimately happens.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Economic Analysis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TCO — single agent, 160 active hours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35240" y="1600200"/>
            <a:ext cx="3977640" cy="1828800"/>
          </a:xfrm>
          <a:prstGeom prst="roundRect">
            <a:avLst>
              <a:gd name="adj" fmla="val 4000"/>
            </a:avLst>
          </a:prstGeom>
          <a:solidFill>
            <a:srgbClr val="F4F6FC"/>
          </a:solidFill>
          <a:ln/>
        </p:spPr>
      </p:sp>
      <p:sp>
        <p:nvSpPr>
          <p:cNvPr id="6" name="Text 3"/>
          <p:cNvSpPr/>
          <p:nvPr/>
        </p:nvSpPr>
        <p:spPr>
          <a:xfrm>
            <a:off x="7863840" y="176479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FLAT-RATE (CUSTOM LABELS)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863840" y="205740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$640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7863840" y="2880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month, fixed at $4.00/hr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635240" y="3703320"/>
            <a:ext cx="3977640" cy="18288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</p:sp>
      <p:sp>
        <p:nvSpPr>
          <p:cNvPr id="10" name="Text 7"/>
          <p:cNvSpPr/>
          <p:nvPr/>
        </p:nvSpPr>
        <p:spPr>
          <a:xfrm>
            <a:off x="7863840" y="386791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(YOLO)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863840" y="416052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</a:t>
            </a:r>
            <a:endParaRPr lang="en-US" sz="4200" dirty="0"/>
          </a:p>
        </p:txBody>
      </p:sp>
      <p:sp>
        <p:nvSpPr>
          <p:cNvPr id="12" name="Text 9"/>
          <p:cNvSpPr/>
          <p:nvPr/>
        </p:nvSpPr>
        <p:spPr>
          <a:xfrm>
            <a:off x="7863840" y="49834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marginal cost per frame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Optimization Strategy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accuracy, latency, and cost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474720" cy="4480560"/>
          </a:xfrm>
          <a:prstGeom prst="roundRect">
            <a:avLst>
              <a:gd name="adj" fmla="val 2105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POINT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3D5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1.11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per second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33756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this rate on AWS, flat-rate Custom Labels ($4.00/hr) becomes cheaper than per-image pricing.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2960" y="4434840"/>
            <a:ext cx="2926080" cy="0"/>
          </a:xfrm>
          <a:prstGeom prst="line">
            <a:avLst/>
          </a:prstGeom>
          <a:noFill/>
          <a:ln w="12700">
            <a:solidFill>
              <a:srgbClr val="D6DA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61772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sampling (1 frame / 3–5 sec) yields a 90%+ cost reduction while still catching persistent violations.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343400" y="1600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Hybrid “Gatekeeper” Model — recommended architecture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43400" y="2148840"/>
            <a:ext cx="1673352" cy="1783080"/>
          </a:xfrm>
          <a:prstGeom prst="roundRect">
            <a:avLst>
              <a:gd name="adj" fmla="val 4372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63500" dist="25400" dir="5400000">
              <a:srgbClr val="888888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97196" y="2295144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4997196" y="22951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34840" y="2734056"/>
            <a:ext cx="14904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1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YOLO26n (Nano)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434840" y="3227832"/>
            <a:ext cx="14904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continuously at high FPS on the edge device, watching every frame.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016752" y="281178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99632" y="2148840"/>
            <a:ext cx="1673352" cy="1783080"/>
          </a:xfrm>
          <a:prstGeom prst="roundRect">
            <a:avLst>
              <a:gd name="adj" fmla="val 4372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63500" dist="25400" dir="5400000">
              <a:srgbClr val="888888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53428" y="2295144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853428" y="22951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91072" y="2734056"/>
            <a:ext cx="14904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1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 detected?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291072" y="3227832"/>
            <a:ext cx="14904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model flags a potential policy violation locally, in real time.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872984" y="281178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055864" y="2148840"/>
            <a:ext cx="1673352" cy="1783080"/>
          </a:xfrm>
          <a:prstGeom prst="roundRect">
            <a:avLst>
              <a:gd name="adj" fmla="val 4372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63500" dist="25400" dir="5400000">
              <a:srgbClr val="888888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709660" y="2295144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8709660" y="22951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147304" y="2734056"/>
            <a:ext cx="14904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1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verification call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147304" y="3227832"/>
            <a:ext cx="14904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flagged frames trigger a high-accuracy API call (Rekognition / Google Vision).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9729216" y="281178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9912096" y="2148840"/>
            <a:ext cx="1673352" cy="1783080"/>
          </a:xfrm>
          <a:prstGeom prst="roundRect">
            <a:avLst>
              <a:gd name="adj" fmla="val 4372"/>
            </a:avLst>
          </a:prstGeom>
          <a:solidFill>
            <a:srgbClr val="1E2761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63500" dist="25400" dir="5400000">
              <a:srgbClr val="888888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0565892" y="2295144"/>
            <a:ext cx="365760" cy="365760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32" name="Text 30"/>
          <p:cNvSpPr/>
          <p:nvPr/>
        </p:nvSpPr>
        <p:spPr>
          <a:xfrm>
            <a:off x="10565892" y="22951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003536" y="2734056"/>
            <a:ext cx="14904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alert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0003536" y="3227832"/>
            <a:ext cx="14904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High-precision alert issued — while monthly API spend stays in the double digits.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343400" y="4069080"/>
            <a:ext cx="7315200" cy="1920240"/>
          </a:xfrm>
          <a:prstGeom prst="roundRect">
            <a:avLst>
              <a:gd name="adj" fmla="val 3810"/>
            </a:avLst>
          </a:prstGeom>
          <a:solidFill>
            <a:srgbClr val="F4F6FC"/>
          </a:solidFill>
          <a:ln/>
        </p:spPr>
      </p:sp>
      <p:sp>
        <p:nvSpPr>
          <p:cNvPr id="36" name="Text 34"/>
          <p:cNvSpPr/>
          <p:nvPr/>
        </p:nvSpPr>
        <p:spPr>
          <a:xfrm>
            <a:off x="4617720" y="4251960"/>
            <a:ext cx="67665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processing for privacy: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video never leaves the agent's machine — only encrypted metadata or filtered violation frames are transmitted, supporting strict data-privacy mandates.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389120"/>
            <a:ext cx="3657600" cy="3657600"/>
          </a:xfrm>
          <a:prstGeom prst="ellipse">
            <a:avLst/>
          </a:prstGeom>
          <a:solidFill>
            <a:srgbClr val="24316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stack selection — post-AWS streaming deprecation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24316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64792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/ Performance King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48006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YOLO26 alone. NMS-free design optimized for 2026-era NPUs — higher throughput, lower thermal load. Natively handles Cell Phone, Book, Keyboard, Mouse, Laptop with zero-dollar API reliance.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72200" y="160020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24316F"/>
          </a:solidFill>
          <a:ln/>
        </p:spPr>
      </p:sp>
      <p:sp>
        <p:nvSpPr>
          <p:cNvPr id="9" name="Text 7"/>
          <p:cNvSpPr/>
          <p:nvPr/>
        </p:nvSpPr>
        <p:spPr>
          <a:xfrm>
            <a:off x="6446520" y="1764792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High-Accuracy Hybrid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46520" y="2148840"/>
            <a:ext cx="48006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YOLO26 + Cloud Verification. Delivers human-in-the-loop accuracy of cloud services at the cost profile of an edge-based system.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3703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stack for 2026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169664"/>
            <a:ext cx="128016" cy="128016"/>
          </a:xfrm>
          <a:prstGeom prst="ellipse">
            <a:avLst/>
          </a:prstGeom>
          <a:solidFill>
            <a:srgbClr val="8FB0FF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05993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Orchestration: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383280" y="4059936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OpenCV for edge-side frame management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608576"/>
            <a:ext cx="128016" cy="128016"/>
          </a:xfrm>
          <a:prstGeom prst="ellipse">
            <a:avLst/>
          </a:prstGeom>
          <a:solidFill>
            <a:srgbClr val="8FB0FF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49884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inference: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383280" y="4498848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Ultralytics YOLO26 (NMS-free, local efficiency)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5047488"/>
            <a:ext cx="128016" cy="128016"/>
          </a:xfrm>
          <a:prstGeom prst="ellipse">
            <a:avLst/>
          </a:prstGeom>
          <a:solidFill>
            <a:srgbClr val="8FB0FF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9377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verification: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383280" y="4937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Rekognition Image API (sampled alerts only)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5486400"/>
            <a:ext cx="128016" cy="128016"/>
          </a:xfrm>
          <a:prstGeom prst="ellipse">
            <a:avLst/>
          </a:prstGeom>
          <a:solidFill>
            <a:srgbClr val="8FB0FF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537667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optimization: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383280" y="5376672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NPUs / AI accelerators to minimize CPU TCO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6080760"/>
            <a:ext cx="11064240" cy="0"/>
          </a:xfrm>
          <a:prstGeom prst="line">
            <a:avLst/>
          </a:prstGeom>
          <a:noFill/>
          <a:ln w="12700">
            <a:solidFill>
              <a:srgbClr val="3A46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6217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9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edge-first strategy removes dependency on sunsetting cloud features, stabilizes operational costs, and delivers the real-time response modern remote compliance requires.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2026-08-23T11:50:34Z</dcterms:created>
  <dcterms:modified xsi:type="dcterms:W3CDTF">2026-08-23T11:50:34Z</dcterms:modified>
</cp:coreProperties>
</file>